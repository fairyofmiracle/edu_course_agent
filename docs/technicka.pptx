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Calibri"/>
              </a:rPr>
              <a:t>СТУДИЯ ОБРАЗОВАТЕЛЬНЫХ ПРОГРАММ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915"/>
                </a:solidFill>
                <a:latin typeface="Calibri"/>
              </a:rPr>
              <a:t>Методист приносит запрос.
Модель пишет программу.
Код её не выпускает, пока не сошлись часы, шаблон и источники.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564C"/>
                </a:solidFill>
                <a:latin typeface="Calibri"/>
              </a:rPr>
              <a:t>Показ и оценка — с ключом. Каталог включается только если ключа нет или шлюз замолчал, и чат говорит об этом прямо.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E56"/>
                </a:solidFill>
                <a:latin typeface="Calibri"/>
              </a:rPr>
              <a:t>КТО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915"/>
                </a:solidFill>
                <a:latin typeface="Calibri"/>
              </a:rPr>
              <a:t>Четыре задачи, четыре роли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E56"/>
                </a:solidFill>
                <a:latin typeface="Calibri"/>
              </a:rPr>
              <a:t>Методист на входе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915"/>
                </a:solidFill>
                <a:latin typeface="Calibri"/>
              </a:rPr>
              <a:t>Сырой запрос. Студия спрашивает тип, часы, аудиторию, форму и аттестацию. «Месяц» не становится 72 часами.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E56"/>
                </a:solidFill>
                <a:latin typeface="Calibri"/>
              </a:rPr>
              <a:t>Методист программы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915"/>
                </a:solidFill>
                <a:latin typeface="Calibri"/>
              </a:rPr>
              <a:t>Старая программа — только каркас разделов. Каркас утверждает человек. Потом модель пишет тест, задания и слайды.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048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E56"/>
                </a:solidFill>
                <a:latin typeface="Calibri"/>
              </a:rPr>
              <a:t>Нормоконтроль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1772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915"/>
                </a:solidFill>
                <a:latin typeface="Calibri"/>
              </a:rPr>
              <a:t>Вкладка «Проверка»: уверенность, непроверенные источники, дословный фрагмент референса, приказ № 499.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4048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6E56"/>
                </a:solidFill>
                <a:latin typeface="Calibri"/>
              </a:rPr>
              <a:t>Руководитель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617720"/>
            <a:ext cx="5029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1915"/>
                </a:solidFill>
                <a:latin typeface="Calibri"/>
              </a:rPr>
              <a:t>Копия под новую аудиторию не затирает исходный курс. DOCX, PPTX и JSON отдаёт сервер.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E56"/>
                </a:solidFill>
                <a:latin typeface="Calibri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915"/>
                </a:solidFill>
                <a:latin typeface="Calibri"/>
              </a:rPr>
              <a:t>Три решения, чтобы не запутаться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E56"/>
                </a:solidFill>
                <a:latin typeface="Calibri"/>
              </a:rPr>
              <a:t>Методист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10512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Ставит задачу и нажимает «Утвердить каркас». Применимость приказа подтверждает она.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E56"/>
                </a:solidFill>
                <a:latin typeface="Calibri"/>
              </a:rPr>
              <a:t>Модель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364991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Пишет формулировки модулей, лекций, тестов и заданий. Только после утверждения каркаса и только если есть ключ.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6E56"/>
                </a:solidFill>
                <a:latin typeface="Calibri"/>
              </a:rPr>
              <a:t>Код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919472"/>
            <a:ext cx="8138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Часы с шагом 0,5. Два шаблона АЦР. Приказы 629, 273-ФЗ и 266. Паспорт результата. Выдуманный номер или код — ошибка. Окно из 12 слов.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564C"/>
                </a:solidFill>
                <a:latin typeface="Calibri"/>
              </a:rPr>
              <a:t>На схеме нет pgvector и объектного хранилища: в этой сборке их нет.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E56"/>
                </a:solidFill>
                <a:latin typeface="Calibri"/>
              </a:rPr>
              <a:t>ТЕХНИЧКА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915"/>
                </a:solidFill>
                <a:latin typeface="Calibri"/>
              </a:rPr>
              <a:t>Качество результата — 5,0 /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992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915"/>
                </a:solidFill>
                <a:latin typeface="Calibri"/>
              </a:rPr>
              <a:t>Доменная логика и структура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67335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F6E56"/>
                </a:solidFill>
                <a:latin typeface="Calibri"/>
              </a:rPr>
              <a:t>2,0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64C"/>
                </a:solidFill>
                <a:latin typeface="Calibri"/>
              </a:rPr>
              <a:t>Два шаблона, шаг 0,5, план сходится с часами, два результата на модуль, каждый закрыт тестом и заданием.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39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644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915"/>
                </a:solidFill>
                <a:latin typeface="Calibri"/>
              </a:rPr>
              <a:t>Валидация и защита от выдумывания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2278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F6E56"/>
                </a:solidFill>
                <a:latin typeface="Calibri"/>
              </a:rPr>
              <a:t>2,0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64C"/>
                </a:solidFill>
                <a:latin typeface="Calibri"/>
              </a:rPr>
              <a:t>Номер приказа и код трудовой функции проходят, только если они есть у методиста. Иначе проверка — ошибка.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1772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1888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1915"/>
                </a:solidFill>
                <a:latin typeface="Calibri"/>
              </a:rPr>
              <a:t>Воспроизводимость и обоснованность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7823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>
                <a:solidFill>
                  <a:srgbClr val="0F6E56"/>
                </a:solidFill>
                <a:latin typeface="Calibri"/>
              </a:rPr>
              <a:t>1,0 /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64C"/>
                </a:solidFill>
                <a:latin typeface="Calibri"/>
              </a:rPr>
              <a:t>Результат — паспорт со штампом. Слайд его не меняет. Текст лекции помечен как черновик модели.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E56"/>
                </a:solidFill>
                <a:latin typeface="Calibri"/>
              </a:rPr>
              <a:t>СЛАБЫЕ МЕСТА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915"/>
                </a:solidFill>
                <a:latin typeface="Calibri"/>
              </a:rPr>
              <a:t>Что не дотягивает до потолка — и что с этим сделано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915"/>
                </a:solidFill>
                <a:latin typeface="Calibri"/>
              </a:rPr>
              <a:t>Было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6304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Пять кейсов без ключа выглядели как сам продукт. Каталог писали за модель.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E56"/>
                </a:solidFill>
                <a:latin typeface="Calibri"/>
              </a:rPr>
              <a:t>Стало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42316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С ключом комплект пишет модель. Если шлюз молчит, чат говорит: дописано по каркасу.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915"/>
                </a:solidFill>
                <a:latin typeface="Calibri"/>
              </a:rPr>
              <a:t>Было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38328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Почему модуль такой, было видно только по сумме часов.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6E56"/>
                </a:solidFill>
                <a:latin typeface="Calibri"/>
              </a:rPr>
              <a:t>Стало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34340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Паспорт и строка «почему план такой» пишет код. Выдуманный номер или код трудовой функции — ошибка проверки.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564C"/>
                </a:solidFill>
                <a:latin typeface="Calibri"/>
              </a:rPr>
              <a:t>Остаётся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303520"/>
            <a:ext cx="8778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Формулировки лекции — черновик. Правду слайда по существу смотрит методист.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E56"/>
                </a:solidFill>
                <a:latin typeface="Calibri"/>
              </a:rPr>
              <a:t>ПОКАЗ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915"/>
                </a:solidFill>
                <a:latin typeface="Calibri"/>
              </a:rPr>
              <a:t>Пять минут с ключом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190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1. Неполный запрос про кибербезопасность. На экране вопросы. Числа 72 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334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2. «Первые шаги в Python», 16 часов. Сумма сошлась. Тестов ещё нет.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478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3. Утвердить каркас. Собрать комплект. В чате: текст написала модель, код проверил часы и источники.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622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4. Вкладка «Проверка». Уверенность, непроверенная ссылка, обоснование каждого модуля.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DF8"/>
          </a:solidFill>
          <a:ln>
            <a:solidFill>
              <a:srgbClr val="D9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3766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1915"/>
                </a:solidFill>
                <a:latin typeface="Calibri"/>
              </a:rPr>
              <a:t>5. Выгрузка DOCX с сервера. У несверенного приказа пометка «не подтверждён».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6E56"/>
                </a:solidFill>
                <a:latin typeface="Calibri"/>
              </a:rPr>
              <a:t>ГРАНИЦА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915"/>
                </a:solidFill>
                <a:latin typeface="Calibri"/>
              </a:rPr>
              <a:t>Чего студия не делает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C1915"/>
                </a:solidFill>
                <a:latin typeface="Calibri"/>
              </a:rPr>
              <a:t>Не обещает трудоустройство после короткого курса.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C1915"/>
                </a:solidFill>
                <a:latin typeface="Calibri"/>
              </a:rPr>
              <a:t>Не переносит кривые часы из приложенного образца.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C1915"/>
                </a:solidFill>
                <a:latin typeface="Calibri"/>
              </a:rPr>
              <a:t>Не пишет код трудовой функции от себя.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C1915"/>
                </a:solidFill>
                <a:latin typeface="Calibri"/>
              </a:rPr>
              <a:t>Не считает пять открытых кейсов единственными запросами.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C1915"/>
                </a:solidFill>
                <a:latin typeface="Calibri"/>
              </a:rPr>
              <a:t>Не выдаёт каталожный текст за текст модели.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